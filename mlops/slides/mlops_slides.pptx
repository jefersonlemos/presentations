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57" r:id="rId3"/>
    <p:sldId id="267" r:id="rId4"/>
    <p:sldId id="260" r:id="rId5"/>
    <p:sldId id="268" r:id="rId6"/>
    <p:sldId id="256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94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47" autoAdjust="0"/>
  </p:normalViewPr>
  <p:slideViewPr>
    <p:cSldViewPr snapToGrid="0" showGuides="1">
      <p:cViewPr varScale="1">
        <p:scale>
          <a:sx n="103" d="100"/>
          <a:sy n="103" d="100"/>
        </p:scale>
        <p:origin x="82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BDE19-4F43-4DA7-B0ED-6E897C43B71B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D7E03-FAF7-452F-AE96-D29E03C5F9C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656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3F1FF-0B05-D233-FC0D-8B5ED8AC9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A0FB69-AFDD-02F8-520D-0E670B407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831E6-DDFD-A370-70F6-1F9990411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Here are the notes for the presenter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EDADC-BB68-0037-568C-C90F06BCC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D7E03-FAF7-452F-AE96-D29E03C5F9C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6614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B3BD7-092C-0C99-01FB-484EB3D89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636BA-3B1D-F000-C262-7AC26C30D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C5EC7E-B327-5B66-BFFE-81601DAA3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Here are the notes for the presenter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7CBA5-D5B3-AC51-7865-B63A74891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D7E03-FAF7-452F-AE96-D29E03C5F9CA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4493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E835-7E26-A896-2B87-F925F2F54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B256E-9E70-CE50-3A7B-D1F8F48EB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4F9480-A62D-0BEE-1937-2AAB3B92F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Here are the notes for the presenter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15F02-39EC-DFAD-D007-D4BC93794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D7E03-FAF7-452F-AE96-D29E03C5F9CA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1571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218B7-00D6-638E-FCCC-606E9C1C1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12102-C4AC-8C92-1DAE-9137DBF62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3CD216-6225-5049-2F05-D99C36BD7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Here are the notes for the presenter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0B43F-4350-855C-5028-EE609EB78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D7E03-FAF7-452F-AE96-D29E03C5F9CA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7893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F269B-A602-39E0-23BD-635DD0FE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8DA69-D929-3422-A154-240CC2BF4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307CD-2C40-71CC-7ACF-8E10B394D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Here are the notes for the presenter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B5CCD-5106-A68B-0CDA-92F8F3AEF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D7E03-FAF7-452F-AE96-D29E03C5F9C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0057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Here are the notes for the presenter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D7E03-FAF7-452F-AE96-D29E03C5F9CA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4913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083AE-0296-8979-91D7-04A4F862C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7B0A9-E10B-5727-1065-D40EA197F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205C6-F93A-9510-13E8-806C41BCA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Here are the notes for the presenter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7F825-3198-4D91-6931-C8642B19C8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D7E03-FAF7-452F-AE96-D29E03C5F9CA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905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3C158-E0D8-36FC-3EE9-1769DC21A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02E3C-B17F-7014-9C12-603F84D64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DF1AB-922F-93E3-0F0F-43BF2B11E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Here are the notes for the presenter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55A4A-3163-F98F-20A8-511F4A3EC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D7E03-FAF7-452F-AE96-D29E03C5F9CA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4686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97760-61EF-6E5E-808D-459A28B42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C74BD-83B0-663C-DDA1-00ADB4222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7EFE3-2DB8-007F-052F-DC257E63F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Here are the notes for the presenter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04147-6D57-EC79-452E-20A379C5D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D7E03-FAF7-452F-AE96-D29E03C5F9CA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794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88521-6F84-2311-D11F-3B94560F4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FAD53-A7DF-BBE1-1591-A133A2A93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C7E78-5368-37D1-9C6B-104E79B3C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Here are the notes for the presenter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8C957-65D4-E8C7-504D-57B665B48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D7E03-FAF7-452F-AE96-D29E03C5F9CA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1421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2BE2C-88DB-1BFA-8EE1-DD459A232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CE215-ADFD-7B7B-8A03-5971789F1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58CE38-6DA5-7BCC-FFF6-762512124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Here are the notes for the presenter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3C671-7A6C-693B-78C9-599C960EF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D7E03-FAF7-452F-AE96-D29E03C5F9CA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132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ECBC8-2933-308B-116A-98A9BD340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EB40D-8E83-0723-C525-115D50565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82938-7C3D-03EA-F808-47297887D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3A27A-191C-48C6-B616-789DB700C747}" type="datetime1">
              <a:rPr lang="pt-BR" smtClean="0"/>
              <a:t>09/06/2026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5CEE8-999F-6FF7-C4C3-C31C5E3D7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14936-FE4E-8B3F-99EC-145A50B4E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26844-A545-4993-ACC2-5BA0A6CB7D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8467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FF639-8336-DC6C-FFAD-8B41A0BFE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DA24C-A8FE-5CA1-1923-541DDCE51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6B244-7808-23CE-BDD8-6AA9755EB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9EDBF-9CA8-472A-8B41-FF6700DC139B}" type="datetime1">
              <a:rPr lang="pt-BR" smtClean="0"/>
              <a:t>09/06/2026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7D66A-4D70-3BE8-D99E-B7941F927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85D4C-C1F4-81E2-6D7C-3C1820727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26844-A545-4993-ACC2-5BA0A6CB7D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510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34F6D-7780-5274-E68D-206832963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8A4E9-98AE-D211-B4B9-89896AFFE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1B1BC-4060-2A4E-D3A1-08E5D7259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1704-CE09-4C04-9F03-A82B5BA53C38}" type="datetime1">
              <a:rPr lang="pt-BR" smtClean="0"/>
              <a:t>09/06/2026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E42CD-5B21-6A14-F34E-EAB542BF9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22C44-A2C4-FBC9-6F17-CD6701AA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26844-A545-4993-ACC2-5BA0A6CB7D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237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F1F8A-EC0C-BA02-1A8C-9E288BB57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29995-5033-E616-CEED-C4DDFD115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D4BF2-8C1F-6C99-9597-10177B2FC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CEBEB-8950-95C7-9F47-FB8C88E50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3FEB6-A3BA-42BA-AD2B-016DC219120A}" type="datetime1">
              <a:rPr lang="pt-BR" smtClean="0"/>
              <a:t>09/06/2026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B96ED-B365-66CD-F403-7CA3D73DA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9CE7C-7054-80E2-2370-B64444557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26844-A545-4993-ACC2-5BA0A6CB7D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037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5C404-6D87-5783-CBBB-59778F4B3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FE259-2350-6F7E-EBE9-2A1457F20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FD05E-5E86-5ECD-25AB-48A391F1A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7B52DF-F537-2F58-1393-07530D520B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056565-606C-1034-BEB8-1A019173B4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502085-5B1D-9305-5DC0-D0D08F6A5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9C7C-3E79-4144-83B1-B1232D1D0F81}" type="datetime1">
              <a:rPr lang="pt-BR" smtClean="0"/>
              <a:t>09/06/2026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C66C83-872C-9A13-F2B5-F2CFD80AE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A23A03-21B2-FFC4-9B8C-02E513D3D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26844-A545-4993-ACC2-5BA0A6CB7D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2303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43FB6-1244-46CA-F60C-664631116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944C3F-7478-ABFB-E47D-50D0B4E72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175B9-8229-48D6-977B-9DA0A0C11402}" type="datetime1">
              <a:rPr lang="pt-BR" smtClean="0"/>
              <a:t>09/06/2026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2AF04-F8BA-E2A2-83A3-069A8AAB9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2E02A-1219-B55B-80D5-C8679066E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26844-A545-4993-ACC2-5BA0A6CB7D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9601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990DFD-5ECD-4761-6266-38D3E88BD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0E356-7212-4B06-8B3B-C933B18E13F6}" type="datetime1">
              <a:rPr lang="pt-BR" smtClean="0"/>
              <a:t>09/06/2026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E4E409-FBA2-1C91-4EA8-017045709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0A7D4-8A2E-A3C6-0DF7-FE6603C1C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26844-A545-4993-ACC2-5BA0A6CB7D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2295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0F364-8758-F184-4AA2-5DD34F530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050F8-AEDE-BEA3-1F3A-0D059CB1A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C630A9-B802-3D99-9527-1CF26B838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E59BE-9810-3DE4-313E-D73AAFF9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65CF-9932-429F-986C-9E2FE59D640A}" type="datetime1">
              <a:rPr lang="pt-BR" smtClean="0"/>
              <a:t>09/06/2026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6E25F-300B-770F-FFB1-B36272B78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F9F5C-01A1-E46A-3E4F-060FCD6C3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26844-A545-4993-ACC2-5BA0A6CB7D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1516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798EA-5677-633E-5FCF-FBC5406AA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42028-D4D2-9665-1F67-68475DCB5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10E08-69D0-1C69-0138-5CA42FF70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C565DB-0374-70D3-7D53-6474352C7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571DF-F597-4F3B-9B28-16AD30C69D0A}" type="datetime1">
              <a:rPr lang="pt-BR" smtClean="0"/>
              <a:t>09/06/2026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22471-3872-0010-3346-FEE326C14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44A2C-591C-AA47-8D1B-12DD17CE3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26844-A545-4993-ACC2-5BA0A6CB7D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3866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1FCD4-B382-EE24-EA00-2EEF7E349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93C679-B525-C5CD-40B1-CD2F06B27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25011-66A9-59F1-7605-599292203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5298-E482-4F96-870D-E5A6EEBE8F36}" type="datetime1">
              <a:rPr lang="pt-BR" smtClean="0"/>
              <a:t>09/06/2026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BBE32-AB0C-0234-35B6-94A7E97AA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A1D99-FC74-3EF0-F22B-C4A581536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26844-A545-4993-ACC2-5BA0A6CB7D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3488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97A0B7-650F-C049-822A-C1218E1683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29968D-E843-AF87-7B08-BE5D53C6E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04921-6BBB-85CD-AE2A-8896FD301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8BD0-B2D6-4977-97EE-9A2EF32F2106}" type="datetime1">
              <a:rPr lang="pt-BR" smtClean="0"/>
              <a:t>09/06/2026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DB318-F2A9-F40B-6BF0-D1F4D996F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9B6A1-B145-4454-F3A3-30BEFE42E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26844-A545-4993-ACC2-5BA0A6CB7D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916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04923D-279E-797F-0C63-EF152392A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6DEDD-1058-67A5-9266-405256467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FF7A6-A536-4A45-D748-BBA8D9C521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D329D4-0E8B-4E8E-8D68-74D2AA3305B2}" type="datetime1">
              <a:rPr lang="pt-BR" smtClean="0"/>
              <a:t>09/06/2026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18D68-9F34-90C6-47E2-512740C101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7F7E0-864D-2C6A-34A7-C4959A632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F26844-A545-4993-ACC2-5BA0A6CB7DD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998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97875-5016-F33A-9581-4DD9B4AAE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9">
            <a:extLst>
              <a:ext uri="{FF2B5EF4-FFF2-40B4-BE49-F238E27FC236}">
                <a16:creationId xmlns:a16="http://schemas.microsoft.com/office/drawing/2014/main" id="{D6CCB503-C635-F8D4-B617-08206E4A4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7"/>
            <a:ext cx="12192000" cy="68899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18E32C9-E179-5921-2594-C593028B6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180" y="397235"/>
            <a:ext cx="495238" cy="7142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4D3A764-1B5E-45D4-9590-0AE8CC3C88FA}"/>
              </a:ext>
            </a:extLst>
          </p:cNvPr>
          <p:cNvSpPr txBox="1"/>
          <p:nvPr/>
        </p:nvSpPr>
        <p:spPr>
          <a:xfrm>
            <a:off x="3804805" y="354144"/>
            <a:ext cx="6542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529431"/>
                </a:solidFill>
                <a:latin typeface="Consolas" panose="020B0609020204030204" pitchFamily="49" charset="0"/>
              </a:rPr>
              <a:t>What is Machine Learning?</a:t>
            </a:r>
          </a:p>
        </p:txBody>
      </p:sp>
      <p:sp>
        <p:nvSpPr>
          <p:cNvPr id="28" name="Title 3">
            <a:extLst>
              <a:ext uri="{FF2B5EF4-FFF2-40B4-BE49-F238E27FC236}">
                <a16:creationId xmlns:a16="http://schemas.microsoft.com/office/drawing/2014/main" id="{6ED8E23F-B32E-895F-94AC-320B2A20B028}"/>
              </a:ext>
            </a:extLst>
          </p:cNvPr>
          <p:cNvSpPr txBox="1">
            <a:spLocks/>
          </p:cNvSpPr>
          <p:nvPr/>
        </p:nvSpPr>
        <p:spPr>
          <a:xfrm>
            <a:off x="558938" y="1391571"/>
            <a:ext cx="11074124" cy="419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Tx/>
              <a:buChar char="-"/>
            </a:pPr>
            <a:r>
              <a:rPr lang="en-US" sz="4000" dirty="0">
                <a:latin typeface="Consolas" panose="020B0609020204030204" pitchFamily="49" charset="0"/>
                <a:ea typeface="Segoe UI Black" panose="020B0A02040204020203" pitchFamily="34" charset="0"/>
              </a:rPr>
              <a:t>Machine learning is a type of artificial intelligence that performs data analysis tasks without explicit instructions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Consolas" panose="020B0609020204030204" pitchFamily="49" charset="0"/>
                <a:ea typeface="Segoe UI Black" panose="020B0A02040204020203" pitchFamily="34" charset="0"/>
              </a:rPr>
              <a:t>is a branch of artificial intelligence (AI) and computer science that leverages data and algorithms to enable AI systems to learn and improve in a manner similar to humans, progressively enhancing their accuracy over time</a:t>
            </a:r>
            <a:endParaRPr lang="pt-BR" sz="4000" dirty="0">
              <a:latin typeface="Consolas" panose="020B0609020204030204" pitchFamily="49" charset="0"/>
              <a:ea typeface="Segoe UI Black" panose="020B0A02040204020203" pitchFamily="34" charset="0"/>
            </a:endParaRPr>
          </a:p>
          <a:p>
            <a:pPr marL="571500" indent="-571500">
              <a:buFontTx/>
              <a:buChar char="-"/>
            </a:pPr>
            <a:r>
              <a:rPr lang="pt-BR" sz="4000" dirty="0">
                <a:latin typeface="Consolas" panose="020B0609020204030204" pitchFamily="49" charset="0"/>
                <a:ea typeface="Segoe UI Black" panose="020B0A02040204020203" pitchFamily="34" charset="0"/>
              </a:rPr>
              <a:t>Deterministic,Predict things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257C34-7BD3-CC53-E9E0-5CCA5D7002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190" y="431696"/>
            <a:ext cx="124916" cy="49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93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1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A26C5-1A23-671E-C733-CC2A33B68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9">
            <a:extLst>
              <a:ext uri="{FF2B5EF4-FFF2-40B4-BE49-F238E27FC236}">
                <a16:creationId xmlns:a16="http://schemas.microsoft.com/office/drawing/2014/main" id="{91684D9D-6795-91F3-2B16-AA1E100345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7"/>
            <a:ext cx="12192000" cy="68899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92289B9-DABE-7985-A042-9E31F8C3E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180" y="397235"/>
            <a:ext cx="495238" cy="7142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6D5D743-2E61-A21E-F2CF-7E958FAAE319}"/>
              </a:ext>
            </a:extLst>
          </p:cNvPr>
          <p:cNvSpPr txBox="1"/>
          <p:nvPr/>
        </p:nvSpPr>
        <p:spPr>
          <a:xfrm>
            <a:off x="3804805" y="354144"/>
            <a:ext cx="6542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529431"/>
                </a:solidFill>
                <a:latin typeface="Consolas" panose="020B0609020204030204" pitchFamily="49" charset="0"/>
              </a:rPr>
              <a:t>Why ?</a:t>
            </a:r>
          </a:p>
        </p:txBody>
      </p:sp>
      <p:sp>
        <p:nvSpPr>
          <p:cNvPr id="28" name="Title 3">
            <a:extLst>
              <a:ext uri="{FF2B5EF4-FFF2-40B4-BE49-F238E27FC236}">
                <a16:creationId xmlns:a16="http://schemas.microsoft.com/office/drawing/2014/main" id="{F24F1AB9-0DCE-CF78-AC01-06DBDD3A1C08}"/>
              </a:ext>
            </a:extLst>
          </p:cNvPr>
          <p:cNvSpPr txBox="1">
            <a:spLocks/>
          </p:cNvSpPr>
          <p:nvPr/>
        </p:nvSpPr>
        <p:spPr>
          <a:xfrm>
            <a:off x="558938" y="1391571"/>
            <a:ext cx="11074124" cy="419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Tx/>
              <a:buChar char="-"/>
            </a:pPr>
            <a:r>
              <a:rPr lang="en-US" sz="4000" dirty="0">
                <a:latin typeface="Consolas" panose="020B0609020204030204" pitchFamily="49" charset="0"/>
                <a:ea typeface="Segoe UI Black" panose="020B0A02040204020203" pitchFamily="34" charset="0"/>
              </a:rPr>
              <a:t>when the rules are too complex, too dynamic, or too perceptual for hand-written logic, such as speech recognition, image classification, stock prediction, churn prediction, and recommendation</a:t>
            </a:r>
            <a:endParaRPr lang="pt-BR" sz="4000" dirty="0">
              <a:latin typeface="Consolas" panose="020B0609020204030204" pitchFamily="49" charset="0"/>
              <a:ea typeface="Segoe UI Black" panose="020B0A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0E3D77B-F5BB-2334-55C1-8EA71D6274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190" y="431696"/>
            <a:ext cx="124916" cy="49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1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1AF13-E921-2BE0-1DFF-1C8A3223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9">
            <a:extLst>
              <a:ext uri="{FF2B5EF4-FFF2-40B4-BE49-F238E27FC236}">
                <a16:creationId xmlns:a16="http://schemas.microsoft.com/office/drawing/2014/main" id="{E04080D3-F316-085E-6F8C-C6660C7FB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7"/>
            <a:ext cx="12192000" cy="68899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2895902-F4F4-79DB-34D7-1425E0D8F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180" y="397235"/>
            <a:ext cx="495238" cy="7142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AE7CCE4-B354-8F0D-FB0A-B5C23286B2B5}"/>
              </a:ext>
            </a:extLst>
          </p:cNvPr>
          <p:cNvSpPr txBox="1"/>
          <p:nvPr/>
        </p:nvSpPr>
        <p:spPr>
          <a:xfrm>
            <a:off x="3804805" y="354144"/>
            <a:ext cx="6542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529431"/>
                </a:solidFill>
                <a:latin typeface="Consolas" panose="020B0609020204030204" pitchFamily="49" charset="0"/>
              </a:rPr>
              <a:t>Use cases</a:t>
            </a:r>
          </a:p>
        </p:txBody>
      </p:sp>
      <p:sp>
        <p:nvSpPr>
          <p:cNvPr id="28" name="Title 3">
            <a:extLst>
              <a:ext uri="{FF2B5EF4-FFF2-40B4-BE49-F238E27FC236}">
                <a16:creationId xmlns:a16="http://schemas.microsoft.com/office/drawing/2014/main" id="{87FCAE54-2A9C-3E8F-232A-D84083A5DB00}"/>
              </a:ext>
            </a:extLst>
          </p:cNvPr>
          <p:cNvSpPr txBox="1">
            <a:spLocks/>
          </p:cNvSpPr>
          <p:nvPr/>
        </p:nvSpPr>
        <p:spPr>
          <a:xfrm>
            <a:off x="558938" y="1391571"/>
            <a:ext cx="11074124" cy="419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Tx/>
              <a:buChar char="-"/>
            </a:pPr>
            <a:r>
              <a:rPr lang="pt-BR" sz="4000" dirty="0">
                <a:latin typeface="Consolas" panose="020B0609020204030204" pitchFamily="49" charset="0"/>
                <a:ea typeface="Segoe UI Black" panose="020B0A02040204020203" pitchFamily="34" charset="0"/>
              </a:rPr>
              <a:t>Here we may use the fraud detection example or a</a:t>
            </a:r>
          </a:p>
          <a:p>
            <a:pPr marL="571500" indent="-571500">
              <a:buFontTx/>
              <a:buChar char="-"/>
            </a:pPr>
            <a:r>
              <a:rPr lang="pt-BR" sz="4000" dirty="0">
                <a:latin typeface="Consolas" panose="020B0609020204030204" pitchFamily="49" charset="0"/>
                <a:ea typeface="Segoe UI Black" panose="020B0A02040204020203" pitchFamily="34" charset="0"/>
              </a:rPr>
              <a:t>recommendations, classification, sentiment analysis, and content generation.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DB73C63-8F39-5017-4186-4D7E5BBEB6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190" y="431696"/>
            <a:ext cx="124916" cy="49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56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68E44-B2EA-70DB-6B61-0C96A276F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9">
            <a:extLst>
              <a:ext uri="{FF2B5EF4-FFF2-40B4-BE49-F238E27FC236}">
                <a16:creationId xmlns:a16="http://schemas.microsoft.com/office/drawing/2014/main" id="{58CBFB5E-4A24-894C-0832-D722939033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7"/>
            <a:ext cx="12192000" cy="68899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A103095-84A4-AB81-7073-4D06855EB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180" y="397235"/>
            <a:ext cx="495238" cy="7142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C401E82-53F4-33A4-C291-A7165E0C7987}"/>
              </a:ext>
            </a:extLst>
          </p:cNvPr>
          <p:cNvSpPr txBox="1"/>
          <p:nvPr/>
        </p:nvSpPr>
        <p:spPr>
          <a:xfrm>
            <a:off x="3804805" y="354144"/>
            <a:ext cx="6542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529431"/>
                </a:solidFill>
                <a:latin typeface="Consolas" panose="020B0609020204030204" pitchFamily="49" charset="0"/>
              </a:rPr>
              <a:t>So what is wrong?</a:t>
            </a:r>
          </a:p>
        </p:txBody>
      </p:sp>
      <p:sp>
        <p:nvSpPr>
          <p:cNvPr id="28" name="Title 3">
            <a:extLst>
              <a:ext uri="{FF2B5EF4-FFF2-40B4-BE49-F238E27FC236}">
                <a16:creationId xmlns:a16="http://schemas.microsoft.com/office/drawing/2014/main" id="{C000894D-622D-19B8-D0AF-9E0CAF86495A}"/>
              </a:ext>
            </a:extLst>
          </p:cNvPr>
          <p:cNvSpPr txBox="1">
            <a:spLocks/>
          </p:cNvSpPr>
          <p:nvPr/>
        </p:nvSpPr>
        <p:spPr>
          <a:xfrm>
            <a:off x="558938" y="1391571"/>
            <a:ext cx="11074124" cy="419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Tx/>
              <a:buChar char="-"/>
            </a:pPr>
            <a:r>
              <a:rPr lang="en-US" sz="4000" dirty="0">
                <a:latin typeface="Consolas" panose="020B0609020204030204" pitchFamily="49" charset="0"/>
                <a:ea typeface="Segoe UI Black" panose="020B0A02040204020203" pitchFamily="34" charset="0"/>
              </a:rPr>
              <a:t>What it is, why it’s necessary and that it needs to be updated</a:t>
            </a:r>
          </a:p>
          <a:p>
            <a:pPr marL="571500" indent="-571500">
              <a:buFontTx/>
              <a:buChar char="-"/>
            </a:pPr>
            <a:endParaRPr lang="pt-BR" sz="4000" dirty="0">
              <a:latin typeface="Consolas" panose="020B0609020204030204" pitchFamily="49" charset="0"/>
              <a:ea typeface="Segoe UI Black" panose="020B0A02040204020203" pitchFamily="34" charset="0"/>
            </a:endParaRPr>
          </a:p>
          <a:p>
            <a:pPr marL="571500" indent="-571500">
              <a:buFontTx/>
              <a:buChar char="-"/>
            </a:pPr>
            <a:r>
              <a:rPr lang="pt-BR" sz="4000" dirty="0">
                <a:latin typeface="Consolas" panose="020B0609020204030204" pitchFamily="49" charset="0"/>
                <a:ea typeface="Segoe UI Black" panose="020B0A02040204020203" pitchFamily="34" charset="0"/>
              </a:rPr>
              <a:t>Based on previous example, we demonstrate the problem: data decay overtime and needs re-train and re-deployment quickly to production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F04AE5B-8AC1-D18A-27C4-35B2D00097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190" y="431696"/>
            <a:ext cx="124916" cy="49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6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3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B95E6-24F9-E02C-922E-5302AD66D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9">
            <a:extLst>
              <a:ext uri="{FF2B5EF4-FFF2-40B4-BE49-F238E27FC236}">
                <a16:creationId xmlns:a16="http://schemas.microsoft.com/office/drawing/2014/main" id="{D8718801-9FFE-B0D9-A648-EE12AAF88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7"/>
            <a:ext cx="12192000" cy="68899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638535E-9A64-3D55-F01C-68A41A1398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180" y="397235"/>
            <a:ext cx="495238" cy="7142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CEF8B53-34B6-F561-759B-AD79713AFBB6}"/>
              </a:ext>
            </a:extLst>
          </p:cNvPr>
          <p:cNvSpPr txBox="1"/>
          <p:nvPr/>
        </p:nvSpPr>
        <p:spPr>
          <a:xfrm>
            <a:off x="3804805" y="354144"/>
            <a:ext cx="6542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529431"/>
                </a:solidFill>
                <a:latin typeface="Consolas" panose="020B0609020204030204" pitchFamily="49" charset="0"/>
              </a:rPr>
              <a:t>How can we solve?</a:t>
            </a:r>
          </a:p>
        </p:txBody>
      </p:sp>
      <p:sp>
        <p:nvSpPr>
          <p:cNvPr id="28" name="Title 3">
            <a:extLst>
              <a:ext uri="{FF2B5EF4-FFF2-40B4-BE49-F238E27FC236}">
                <a16:creationId xmlns:a16="http://schemas.microsoft.com/office/drawing/2014/main" id="{3B648119-241F-873B-E7E8-AB2E4A711C9E}"/>
              </a:ext>
            </a:extLst>
          </p:cNvPr>
          <p:cNvSpPr txBox="1">
            <a:spLocks/>
          </p:cNvSpPr>
          <p:nvPr/>
        </p:nvSpPr>
        <p:spPr>
          <a:xfrm>
            <a:off x="4365827" y="1624222"/>
            <a:ext cx="3546531" cy="1658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8800" b="1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MLOPS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777380-B12D-B5EC-F719-8030032586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190" y="431696"/>
            <a:ext cx="124916" cy="4952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FC778A-A649-4E00-A92C-8296466110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8937" y="3446297"/>
            <a:ext cx="6334125" cy="20859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9A2A7F-42D5-516A-768C-14C43F4DA6A8}"/>
              </a:ext>
            </a:extLst>
          </p:cNvPr>
          <p:cNvSpPr txBox="1"/>
          <p:nvPr/>
        </p:nvSpPr>
        <p:spPr>
          <a:xfrm>
            <a:off x="4308404" y="2768472"/>
            <a:ext cx="3790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529431"/>
                </a:solidFill>
                <a:latin typeface="Consolas" panose="020B0609020204030204" pitchFamily="49" charset="0"/>
              </a:rPr>
              <a:t>Machine Learning Operations</a:t>
            </a:r>
            <a:endParaRPr lang="pt-BR" sz="1800" b="1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53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3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9">
            <a:extLst>
              <a:ext uri="{FF2B5EF4-FFF2-40B4-BE49-F238E27FC236}">
                <a16:creationId xmlns:a16="http://schemas.microsoft.com/office/drawing/2014/main" id="{4A27B97F-0698-7AEC-1B3D-54E606297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7"/>
            <a:ext cx="12192000" cy="68899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31D7CD2-F7E1-08DE-9C87-B34257EAA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180" y="397235"/>
            <a:ext cx="495238" cy="7142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0FF2110-2348-0A1C-7313-11D992831EE6}"/>
              </a:ext>
            </a:extLst>
          </p:cNvPr>
          <p:cNvSpPr txBox="1"/>
          <p:nvPr/>
        </p:nvSpPr>
        <p:spPr>
          <a:xfrm>
            <a:off x="3804806" y="354144"/>
            <a:ext cx="3976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529431"/>
                </a:solidFill>
                <a:latin typeface="Consolas" panose="020B0609020204030204" pitchFamily="49" charset="0"/>
              </a:rPr>
              <a:t>What is MLOPS ?</a:t>
            </a:r>
          </a:p>
        </p:txBody>
      </p:sp>
      <p:sp>
        <p:nvSpPr>
          <p:cNvPr id="28" name="Title 3">
            <a:extLst>
              <a:ext uri="{FF2B5EF4-FFF2-40B4-BE49-F238E27FC236}">
                <a16:creationId xmlns:a16="http://schemas.microsoft.com/office/drawing/2014/main" id="{3581796F-CD0E-53EF-D578-F3E638ADA9A1}"/>
              </a:ext>
            </a:extLst>
          </p:cNvPr>
          <p:cNvSpPr txBox="1">
            <a:spLocks/>
          </p:cNvSpPr>
          <p:nvPr/>
        </p:nvSpPr>
        <p:spPr>
          <a:xfrm>
            <a:off x="558938" y="1391571"/>
            <a:ext cx="11074124" cy="419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Tx/>
              <a:buChar char="-"/>
            </a:pPr>
            <a:r>
              <a:rPr lang="en-US" sz="4000" dirty="0">
                <a:latin typeface="Consolas" panose="020B0609020204030204" pitchFamily="49" charset="0"/>
                <a:ea typeface="Segoe UI Black" panose="020B0A02040204020203" pitchFamily="34" charset="0"/>
              </a:rPr>
              <a:t>It’s the practice of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Consolas" panose="020B0609020204030204" pitchFamily="49" charset="0"/>
                <a:ea typeface="Segoe UI Black" panose="020B0A02040204020203" pitchFamily="34" charset="0"/>
              </a:rPr>
              <a:t>the extension of DevOps practices to ML and data science assets. The goal is to treat data, models, training code, pipelines, and serving services as first-class production assets.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Consolas" panose="020B0609020204030204" pitchFamily="49" charset="0"/>
                <a:ea typeface="Segoe UI Black" panose="020B0A02040204020203" pitchFamily="34" charset="0"/>
              </a:rPr>
              <a:t>Its main focus of the _“ML Operations”_ phase is to deliver the previously developed ML model in production by using established DevOps practices such as testing, versioning, continuous delivery, and monitoring.</a:t>
            </a:r>
            <a:endParaRPr lang="pt-BR" sz="4000" dirty="0">
              <a:latin typeface="Consolas" panose="020B0609020204030204" pitchFamily="49" charset="0"/>
              <a:ea typeface="Segoe UI Black" panose="020B0A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5600F3-9B73-48EB-E39C-2A6E27F16E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409" y="431696"/>
            <a:ext cx="124916" cy="495232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83E770F-2B46-EF34-2789-AF409838A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26844-A545-4993-ACC2-5BA0A6CB7DD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15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1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45F92-18D4-8842-6D00-D06C2701F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9">
            <a:extLst>
              <a:ext uri="{FF2B5EF4-FFF2-40B4-BE49-F238E27FC236}">
                <a16:creationId xmlns:a16="http://schemas.microsoft.com/office/drawing/2014/main" id="{1D4BAF5C-9AD2-D343-E174-48993A24A1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7"/>
            <a:ext cx="12192000" cy="68899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FC02286-97A1-272C-3674-C60FFF239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180" y="397235"/>
            <a:ext cx="495238" cy="7142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32ADFFF-B6C5-1FF4-DAF1-2D3C24BE5511}"/>
              </a:ext>
            </a:extLst>
          </p:cNvPr>
          <p:cNvSpPr txBox="1"/>
          <p:nvPr/>
        </p:nvSpPr>
        <p:spPr>
          <a:xfrm>
            <a:off x="3804806" y="354144"/>
            <a:ext cx="3976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529431"/>
                </a:solidFill>
                <a:latin typeface="Consolas" panose="020B0609020204030204" pitchFamily="49" charset="0"/>
              </a:rPr>
              <a:t>What is MLOPS ?</a:t>
            </a:r>
          </a:p>
        </p:txBody>
      </p:sp>
      <p:sp>
        <p:nvSpPr>
          <p:cNvPr id="28" name="Title 3">
            <a:extLst>
              <a:ext uri="{FF2B5EF4-FFF2-40B4-BE49-F238E27FC236}">
                <a16:creationId xmlns:a16="http://schemas.microsoft.com/office/drawing/2014/main" id="{EB377951-A392-D8B2-CA00-644B07959D0B}"/>
              </a:ext>
            </a:extLst>
          </p:cNvPr>
          <p:cNvSpPr txBox="1">
            <a:spLocks/>
          </p:cNvSpPr>
          <p:nvPr/>
        </p:nvSpPr>
        <p:spPr>
          <a:xfrm>
            <a:off x="558938" y="1391571"/>
            <a:ext cx="11074124" cy="419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Tx/>
              <a:buChar char="-"/>
            </a:pPr>
            <a:r>
              <a:rPr lang="en-US" sz="4000" dirty="0">
                <a:latin typeface="Consolas" panose="020B0609020204030204" pitchFamily="49" charset="0"/>
                <a:ea typeface="Segoe UI Black" panose="020B0A02040204020203" pitchFamily="34" charset="0"/>
              </a:rPr>
              <a:t>1. Principles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Consolas" panose="020B0609020204030204" pitchFamily="49" charset="0"/>
                <a:ea typeface="Segoe UI Black" panose="020B0A02040204020203" pitchFamily="34" charset="0"/>
              </a:rPr>
              <a:t>2. Components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Consolas" panose="020B0609020204030204" pitchFamily="49" charset="0"/>
                <a:ea typeface="Segoe UI Black" panose="020B0A02040204020203" pitchFamily="34" charset="0"/>
              </a:rPr>
              <a:t>3. </a:t>
            </a:r>
            <a:r>
              <a:rPr lang="en-US" sz="4000" dirty="0" err="1">
                <a:latin typeface="Consolas" panose="020B0609020204030204" pitchFamily="49" charset="0"/>
                <a:ea typeface="Segoe UI Black" panose="020B0A02040204020203" pitchFamily="34" charset="0"/>
              </a:rPr>
              <a:t>Experimets</a:t>
            </a:r>
            <a:r>
              <a:rPr lang="en-US" sz="4000" dirty="0">
                <a:latin typeface="Consolas" panose="020B0609020204030204" pitchFamily="49" charset="0"/>
                <a:ea typeface="Segoe UI Black" panose="020B0A02040204020203" pitchFamily="34" charset="0"/>
              </a:rPr>
              <a:t> Tracking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Consolas" panose="020B0609020204030204" pitchFamily="49" charset="0"/>
                <a:ea typeface="Segoe UI Black" panose="020B0A02040204020203" pitchFamily="34" charset="0"/>
              </a:rPr>
              <a:t>4. Tests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Consolas" panose="020B0609020204030204" pitchFamily="49" charset="0"/>
                <a:ea typeface="Segoe UI Black" panose="020B0A02040204020203" pitchFamily="34" charset="0"/>
              </a:rPr>
              <a:t>5. Monitoring</a:t>
            </a:r>
            <a:endParaRPr lang="pt-BR" sz="4000" dirty="0">
              <a:latin typeface="Consolas" panose="020B0609020204030204" pitchFamily="49" charset="0"/>
              <a:ea typeface="Segoe UI Black" panose="020B0A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593BBF-CB59-68C2-156A-E93BB304F7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409" y="431696"/>
            <a:ext cx="124916" cy="495232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E3AA7D9-3399-DCA8-D889-F75ADE9B6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26844-A545-4993-ACC2-5BA0A6CB7DD8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12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1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5B1AF-3CA6-EAC6-FBF5-765787339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9">
            <a:extLst>
              <a:ext uri="{FF2B5EF4-FFF2-40B4-BE49-F238E27FC236}">
                <a16:creationId xmlns:a16="http://schemas.microsoft.com/office/drawing/2014/main" id="{A0771DAC-8842-DC05-CBCE-131A2EACF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7"/>
            <a:ext cx="12192000" cy="68899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FC0D197-A72F-6570-3EE2-B530BBD5C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180" y="397235"/>
            <a:ext cx="495238" cy="7142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A755016-E882-C6CA-8EE0-7930256E33BC}"/>
              </a:ext>
            </a:extLst>
          </p:cNvPr>
          <p:cNvSpPr txBox="1"/>
          <p:nvPr/>
        </p:nvSpPr>
        <p:spPr>
          <a:xfrm>
            <a:off x="3804806" y="354144"/>
            <a:ext cx="3976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529431"/>
                </a:solidFill>
                <a:latin typeface="Consolas" panose="020B0609020204030204" pitchFamily="49" charset="0"/>
              </a:rPr>
              <a:t>Slide name</a:t>
            </a:r>
          </a:p>
        </p:txBody>
      </p:sp>
      <p:sp>
        <p:nvSpPr>
          <p:cNvPr id="28" name="Title 3">
            <a:extLst>
              <a:ext uri="{FF2B5EF4-FFF2-40B4-BE49-F238E27FC236}">
                <a16:creationId xmlns:a16="http://schemas.microsoft.com/office/drawing/2014/main" id="{05C41144-D63D-C980-CEBF-E68C1874E3DD}"/>
              </a:ext>
            </a:extLst>
          </p:cNvPr>
          <p:cNvSpPr txBox="1">
            <a:spLocks/>
          </p:cNvSpPr>
          <p:nvPr/>
        </p:nvSpPr>
        <p:spPr>
          <a:xfrm>
            <a:off x="558938" y="1391571"/>
            <a:ext cx="11074124" cy="419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Tx/>
              <a:buChar char="-"/>
            </a:pPr>
            <a:r>
              <a:rPr lang="en-US" sz="4000" dirty="0">
                <a:latin typeface="Consolas" panose="020B0609020204030204" pitchFamily="49" charset="0"/>
                <a:ea typeface="Segoe UI Black" panose="020B0A02040204020203" pitchFamily="34" charset="0"/>
              </a:rPr>
              <a:t>1. Topics</a:t>
            </a:r>
            <a:endParaRPr lang="pt-BR" sz="4000" dirty="0">
              <a:latin typeface="Consolas" panose="020B0609020204030204" pitchFamily="49" charset="0"/>
              <a:ea typeface="Segoe UI Black" panose="020B0A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D7EE2E2-0CA8-CCA7-E5DE-D5E37A876A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409" y="431696"/>
            <a:ext cx="124916" cy="495232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83EA8AA-0664-32E5-7972-887BAA2E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26844-A545-4993-ACC2-5BA0A6CB7DD8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1197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8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5A857-8B43-2CFB-D017-B7FB23F2B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9">
            <a:extLst>
              <a:ext uri="{FF2B5EF4-FFF2-40B4-BE49-F238E27FC236}">
                <a16:creationId xmlns:a16="http://schemas.microsoft.com/office/drawing/2014/main" id="{370E035B-073D-68A3-F332-6D38AA05D5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7"/>
            <a:ext cx="12192000" cy="68899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F5C56B3-A391-4E4C-B6B0-CAC2F43B3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180" y="397235"/>
            <a:ext cx="495238" cy="7142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35EA6B4-89B0-070B-2CD2-8ECAC877F0D2}"/>
              </a:ext>
            </a:extLst>
          </p:cNvPr>
          <p:cNvSpPr txBox="1"/>
          <p:nvPr/>
        </p:nvSpPr>
        <p:spPr>
          <a:xfrm>
            <a:off x="3804806" y="354144"/>
            <a:ext cx="3976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529431"/>
                </a:solidFill>
                <a:latin typeface="Consolas" panose="020B0609020204030204" pitchFamily="49" charset="0"/>
              </a:rPr>
              <a:t>Slide name</a:t>
            </a:r>
          </a:p>
        </p:txBody>
      </p:sp>
      <p:sp>
        <p:nvSpPr>
          <p:cNvPr id="28" name="Title 3">
            <a:extLst>
              <a:ext uri="{FF2B5EF4-FFF2-40B4-BE49-F238E27FC236}">
                <a16:creationId xmlns:a16="http://schemas.microsoft.com/office/drawing/2014/main" id="{19D96D39-D66F-17F8-9C85-6BD8865A2BC6}"/>
              </a:ext>
            </a:extLst>
          </p:cNvPr>
          <p:cNvSpPr txBox="1">
            <a:spLocks/>
          </p:cNvSpPr>
          <p:nvPr/>
        </p:nvSpPr>
        <p:spPr>
          <a:xfrm>
            <a:off x="558938" y="1391571"/>
            <a:ext cx="11074124" cy="419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Tx/>
              <a:buChar char="-"/>
            </a:pPr>
            <a:r>
              <a:rPr lang="en-US" sz="4000" dirty="0">
                <a:latin typeface="Consolas" panose="020B0609020204030204" pitchFamily="49" charset="0"/>
                <a:ea typeface="Segoe UI Black" panose="020B0A02040204020203" pitchFamily="34" charset="0"/>
              </a:rPr>
              <a:t>1. Topics</a:t>
            </a:r>
            <a:endParaRPr lang="pt-BR" sz="4000" dirty="0">
              <a:latin typeface="Consolas" panose="020B0609020204030204" pitchFamily="49" charset="0"/>
              <a:ea typeface="Segoe UI Black" panose="020B0A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E6FE4A7-B991-9083-2F3B-7E8A4EBAC6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409" y="431696"/>
            <a:ext cx="124916" cy="495232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37C453-7C9B-9E03-E6D4-65BD48017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26844-A545-4993-ACC2-5BA0A6CB7DD8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950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8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35688-458C-B536-6B19-5C6993A16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9">
            <a:extLst>
              <a:ext uri="{FF2B5EF4-FFF2-40B4-BE49-F238E27FC236}">
                <a16:creationId xmlns:a16="http://schemas.microsoft.com/office/drawing/2014/main" id="{A4ADA4C0-BCE8-A4AE-EA04-544B0C07A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7"/>
            <a:ext cx="12192000" cy="68899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4643083-B3A5-D135-4540-F76B90DFB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180" y="397235"/>
            <a:ext cx="495238" cy="7142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7957139-F0E7-3BBB-CC17-876C89B707C7}"/>
              </a:ext>
            </a:extLst>
          </p:cNvPr>
          <p:cNvSpPr txBox="1"/>
          <p:nvPr/>
        </p:nvSpPr>
        <p:spPr>
          <a:xfrm>
            <a:off x="3804806" y="354144"/>
            <a:ext cx="3976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529431"/>
                </a:solidFill>
                <a:latin typeface="Consolas" panose="020B0609020204030204" pitchFamily="49" charset="0"/>
              </a:rPr>
              <a:t>Slide name</a:t>
            </a:r>
          </a:p>
        </p:txBody>
      </p:sp>
      <p:sp>
        <p:nvSpPr>
          <p:cNvPr id="28" name="Title 3">
            <a:extLst>
              <a:ext uri="{FF2B5EF4-FFF2-40B4-BE49-F238E27FC236}">
                <a16:creationId xmlns:a16="http://schemas.microsoft.com/office/drawing/2014/main" id="{E2F384BF-69E6-ED39-FFAD-E9727304912A}"/>
              </a:ext>
            </a:extLst>
          </p:cNvPr>
          <p:cNvSpPr txBox="1">
            <a:spLocks/>
          </p:cNvSpPr>
          <p:nvPr/>
        </p:nvSpPr>
        <p:spPr>
          <a:xfrm>
            <a:off x="558938" y="1391571"/>
            <a:ext cx="11074124" cy="419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Tx/>
              <a:buChar char="-"/>
            </a:pPr>
            <a:r>
              <a:rPr lang="en-US" sz="4000" dirty="0">
                <a:latin typeface="Consolas" panose="020B0609020204030204" pitchFamily="49" charset="0"/>
                <a:ea typeface="Segoe UI Black" panose="020B0A02040204020203" pitchFamily="34" charset="0"/>
              </a:rPr>
              <a:t>1. Topics</a:t>
            </a:r>
            <a:endParaRPr lang="pt-BR" sz="4000" dirty="0">
              <a:latin typeface="Consolas" panose="020B0609020204030204" pitchFamily="49" charset="0"/>
              <a:ea typeface="Segoe UI Black" panose="020B0A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4D94E7A-92A0-718B-83A8-8222129034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409" y="431696"/>
            <a:ext cx="124916" cy="495232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C5CB5B7-393B-8B78-53DF-109E5F6AA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26844-A545-4993-ACC2-5BA0A6CB7DD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740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8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544B3-BA35-A428-DA39-7F59A8949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9">
            <a:extLst>
              <a:ext uri="{FF2B5EF4-FFF2-40B4-BE49-F238E27FC236}">
                <a16:creationId xmlns:a16="http://schemas.microsoft.com/office/drawing/2014/main" id="{FE9F245C-C54B-83DB-983D-455A049D55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7"/>
            <a:ext cx="12192000" cy="68899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A1CF0FD-5B0C-6B02-2C6C-FC85B5655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180" y="397235"/>
            <a:ext cx="495238" cy="7142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2EA1BBF-FAA8-B820-1FA9-7A90578151AE}"/>
              </a:ext>
            </a:extLst>
          </p:cNvPr>
          <p:cNvSpPr txBox="1"/>
          <p:nvPr/>
        </p:nvSpPr>
        <p:spPr>
          <a:xfrm>
            <a:off x="3870120" y="356146"/>
            <a:ext cx="3501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529431"/>
                </a:solidFill>
                <a:latin typeface="Consolas" panose="020B0609020204030204" pitchFamily="49" charset="0"/>
              </a:rPr>
              <a:t>Demonstration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26CA8CA-7C4B-B97F-B0C1-456F3211A1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2030" y="454176"/>
            <a:ext cx="124916" cy="495232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79DA017-0305-84BC-76FF-CF665233B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26844-A545-4993-ACC2-5BA0A6CB7DD8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40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2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379</Words>
  <Application>Microsoft Office PowerPoint</Application>
  <PresentationFormat>Widescreen</PresentationFormat>
  <Paragraphs>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Cascadia Mono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Jeferson Lemos</dc:creator>
  <cp:lastModifiedBy>Jeferson Lemos</cp:lastModifiedBy>
  <cp:revision>6</cp:revision>
  <dcterms:created xsi:type="dcterms:W3CDTF">2026-06-04T11:26:11Z</dcterms:created>
  <dcterms:modified xsi:type="dcterms:W3CDTF">2026-06-09T11:56:14Z</dcterms:modified>
</cp:coreProperties>
</file>